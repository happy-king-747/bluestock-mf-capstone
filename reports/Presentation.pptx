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25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4A8A">
              <a:alpha val="40000"/>
            </a:srgbClr>
          </a:solidFill>
          <a:ln w="12700">
            <a:solidFill>
              <a:srgbClr val="1E4A8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1E4A8A">
              <a:alpha val="30000"/>
            </a:srgbClr>
          </a:solidFill>
          <a:ln w="12700">
            <a:solidFill>
              <a:srgbClr val="1E4A8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Capstone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on Indian mutual fund data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SQLite · Power BI · Streamlit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09728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Revanth A  ·  Bluestock Fintech Internship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retail investors have access to 1,900+ mutual fund schemes but lack tools to objectively compare risk, returns, and portfolio quality across fund houses.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AMFI data is fragmented across multiple CSVs with inconsistent formats, missing NAV values for holidays, and no unified analytics layer.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end-to-end analytics pipeline — from raw data ingestion to interactive dashboards — covering 40 schemes, 64,320 NAV records, and 32,778 investor transactions.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Datasets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provided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fund_master, nav_history, AUM,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inflows, transactions, portfolio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schemes · 16,707 records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via REST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NSE/BSE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50, Nifty 100 TRI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8,050 daily index records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55648" y="3520440"/>
            <a:ext cx="201168" cy="457200"/>
          </a:xfrm>
          <a:prstGeom prst="chevron">
            <a:avLst/>
          </a:prstGeom>
          <a:solidFill>
            <a:srgbClr val="D0DCFF"/>
          </a:solidFill>
          <a:ln w="12700">
            <a:solidFill>
              <a:srgbClr val="D0D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47288" y="3520440"/>
            <a:ext cx="201168" cy="457200"/>
          </a:xfrm>
          <a:prstGeom prst="chevron">
            <a:avLst/>
          </a:prstGeom>
          <a:solidFill>
            <a:srgbClr val="D0DCFF"/>
          </a:solidFill>
          <a:ln w="12700">
            <a:solidFill>
              <a:srgbClr val="D0D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3–4)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38928" y="3520440"/>
            <a:ext cx="201168" cy="457200"/>
          </a:xfrm>
          <a:prstGeom prst="chevron">
            <a:avLst/>
          </a:prstGeom>
          <a:solidFill>
            <a:srgbClr val="D0DCFF"/>
          </a:solidFill>
          <a:ln w="12700">
            <a:solidFill>
              <a:srgbClr val="D0D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5)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0568" y="3520440"/>
            <a:ext cx="201168" cy="457200"/>
          </a:xfrm>
          <a:prstGeom prst="chevron">
            <a:avLst/>
          </a:prstGeom>
          <a:solidFill>
            <a:srgbClr val="D0DCFF"/>
          </a:solidFill>
          <a:ln w="12700">
            <a:solidFill>
              <a:srgbClr val="D0D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34290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7)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Market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64,320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tracked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670048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33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— All Large Cap funds appreciated 15–25% in 2023 bull run. Nifty crossed 21,000 for the first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054096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0175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Distribution — Mirae Asset leads with ₹49,046 Cr. Top 3 funds hold 40% of total tracked AUM.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438144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01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 — Monthly SIP volume grew consistently through 2024. UPI is the dominant payment mode at 45%.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822192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8561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— Punjab leads in total SIP amount. T30 cities account for 66.72% of all transactions.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06240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16966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26–35 age group drives the most SIP transactions (37% of all SIPs in the dataset).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Sector &amp; Risk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 Allocations: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554480"/>
            <a:ext cx="201168" cy="20116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90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4904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55448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490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904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554480"/>
            <a:ext cx="201168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490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14904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14884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01168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2148840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01168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2148840"/>
            <a:ext cx="201168" cy="201168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Grade Distribution: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288" y="3246120"/>
            <a:ext cx="1477832" cy="6400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funds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6576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Gilt, Liquid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1460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96987" y="3246120"/>
            <a:ext cx="1331259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funds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51460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1460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74920" y="3246120"/>
            <a:ext cx="1177962" cy="6400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funds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66344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12280" y="3154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3665" y="3246120"/>
            <a:ext cx="116317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funds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812280" y="3913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1228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Key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16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856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3yr CAGR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67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Midcap Regular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216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54680" y="1856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Ratio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2167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2161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856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Composite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167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Mid Cap Regular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992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4320" y="3639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Expense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 funds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9992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-13.35%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154680" y="3639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Max Drawdown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Direct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9992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30.62%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36393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Alpha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950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vs Index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Risk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Analysis (95% confidence):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475488"/>
          </a:xfrm>
          <a:prstGeom prst="roundRect">
            <a:avLst>
              <a:gd name="adj" fmla="val 7692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45336"/>
            <a:ext cx="219456" cy="2194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−2.1% daily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508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39696"/>
            <a:ext cx="219456" cy="21945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−1.8% daily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475488"/>
          </a:xfrm>
          <a:prstGeom prst="roundRect">
            <a:avLst>
              <a:gd name="adj" fmla="val 7692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34056"/>
            <a:ext cx="219456" cy="21945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−1.2% daily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697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328416"/>
            <a:ext cx="219456" cy="21945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91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3291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−0.3% daily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291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8412480" cy="475488"/>
          </a:xfrm>
          <a:prstGeom prst="roundRect">
            <a:avLst>
              <a:gd name="adj" fmla="val 7692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922776"/>
            <a:ext cx="219456" cy="21945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886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3886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−0.05% daily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Formula: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30% × 3yr Return + 25% × Sharpe + 20% × Alpha + 15% × Low Expense + 10% × Low Drawdown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Industry Overview &amp; Fund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749040" cy="2560320"/>
          </a:xfrm>
          <a:prstGeom prst="roundRect">
            <a:avLst>
              <a:gd name="adj" fmla="val 2143"/>
            </a:avLst>
          </a:prstGeom>
          <a:solidFill>
            <a:srgbClr val="E8EEFF"/>
          </a:solidFill>
          <a:ln w="6350">
            <a:solidFill>
              <a:srgbClr val="C5D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Screenshot]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Page 1: Industry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· AUM bar chart · Category donut · NAV trend · Slicers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234440"/>
            <a:ext cx="3749040" cy="2560320"/>
          </a:xfrm>
          <a:prstGeom prst="roundRect">
            <a:avLst>
              <a:gd name="adj" fmla="val 2143"/>
            </a:avLst>
          </a:prstGeom>
          <a:solidFill>
            <a:srgbClr val="E8EEFF"/>
          </a:solidFill>
          <a:ln w="6350">
            <a:solidFill>
              <a:srgbClr val="C5D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Screenshot]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Page 2: Fund 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scatter · 6 scorecard cards · Sortable fund table · 3 slicers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Microsoft Power BI Desktop  ·  4 interactive pages  ·  Slicers on every page</a:t>
            </a:r>
            <a:endParaRPr lang="en-US" sz="10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54" y="1188719"/>
            <a:ext cx="3848909" cy="260604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40" y="1188719"/>
            <a:ext cx="3893321" cy="26060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Investor Analytics &amp; SIP Trends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749040" cy="2560320"/>
          </a:xfrm>
          <a:prstGeom prst="roundRect">
            <a:avLst>
              <a:gd name="adj" fmla="val 2143"/>
            </a:avLst>
          </a:prstGeom>
          <a:solidFill>
            <a:srgbClr val="E8EEFF"/>
          </a:solidFill>
          <a:ln w="6350">
            <a:solidFill>
              <a:srgbClr val="C5D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Screenshot]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Page 3: Investor Analytics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bar · Transaction donut · Age group · Monthly volume · 3 slicers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234440"/>
            <a:ext cx="3749040" cy="2560320"/>
          </a:xfrm>
          <a:prstGeom prst="roundRect">
            <a:avLst>
              <a:gd name="adj" fmla="val 2143"/>
            </a:avLst>
          </a:prstGeom>
          <a:solidFill>
            <a:srgbClr val="E8EEFF"/>
          </a:solidFill>
          <a:ln w="6350">
            <a:solidFill>
              <a:srgbClr val="C5D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Screenshot]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Page 4: SIP &amp; Market Trends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4133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SIP bar · Top 5 fund houses · YoY growth · City tier donut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B2: Streamlit dashboard also built as alternative — 4 pages with interactive Plotly charts</a:t>
            </a:r>
            <a:endParaRPr lang="en-US" sz="10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1234440"/>
            <a:ext cx="3844319" cy="25877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40" y="1216151"/>
            <a:ext cx="3794760" cy="2606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28600" cy="54864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plans outperform Regular plans by 0.5–1% annually — always prefer Direct for long-term investing.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09928"/>
            <a:ext cx="228600" cy="548640"/>
          </a:xfrm>
          <a:prstGeom prst="roundRect">
            <a:avLst>
              <a:gd name="adj" fmla="val 20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01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 deliver highest 3yr CAGR (35.10%) but carry 3x more daily risk than Large Cap.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68296"/>
            <a:ext cx="228600" cy="54864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5973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drives the most SIP volume — ideal target segment for new fund campaigns.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26664"/>
            <a:ext cx="228600" cy="54864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1810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investors with 6+ SIPs are technically at-risk by the 35-day gap threshold — consider extending to 45 days.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85032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85032"/>
            <a:ext cx="228600" cy="54864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764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leads all states in SIP investment, suggesting strong T2 city penetration outside metros.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8333"/>
            </a:avLst>
          </a:prstGeom>
          <a:solidFill>
            <a:srgbClr val="F4F7FF"/>
          </a:solidFill>
          <a:ln w="6350">
            <a:solidFill>
              <a:srgbClr val="D0D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343400"/>
            <a:ext cx="228600" cy="54864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3484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Mid Cap ranks #1 in composite scorecard (86.86/100) — best overall risk-adjusted fund in dataset.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Deliverables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12471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scipy · matplotlib · seaborn · plotly · sqlalchemy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76479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9 tables · star schema · 1,11,167 total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40487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· 4 pages · Streamlit (Bonus B2)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04495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· 10 commits · v1.0 tag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64065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submitted: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2336" y="4046220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959352"/>
            <a:ext cx="29497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(data_ingestion.py, live_nav_fetch.py)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4037076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3959352"/>
            <a:ext cx="2929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(bluestock_mf.db) + schema.sql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347972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251960"/>
            <a:ext cx="29497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 (EDA_Analysis.ipynb) + 15 charts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78324" y="4347972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4251153"/>
            <a:ext cx="2996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notebook + fund_scorecard.csv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629554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51830"/>
            <a:ext cx="28647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(.pbix) + PDF + 4 PNG pages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83703" y="4677156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4558284"/>
            <a:ext cx="29965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notebook + recommender.py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3802" y="4911136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844438"/>
            <a:ext cx="27840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PDF + 12-slide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4A8A">
              <a:alpha val="40000"/>
            </a:srgbClr>
          </a:solidFill>
          <a:ln w="12700">
            <a:solidFill>
              <a:srgbClr val="1E4A8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E4A8A">
              <a:alpha val="30000"/>
            </a:srgbClr>
          </a:solidFill>
          <a:ln w="12700">
            <a:solidFill>
              <a:srgbClr val="1E4A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1E3D"/>
          </a:solidFill>
          <a:ln w="12700">
            <a:solidFill>
              <a:srgbClr val="0D1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371600" cy="45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Capstone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covering 40 schemes, 64K NAV records, and 32K investor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611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Revanth 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3611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Happy-King-747/bluestock-mf-capstone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114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MJ28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114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923</Words>
  <Application>Microsoft Office PowerPoint</Application>
  <PresentationFormat>On-screen Show (16:9)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Capstone</dc:title>
  <dc:subject>PptxGenJS Presentation</dc:subject>
  <dc:creator>Revanth A</dc:creator>
  <cp:lastModifiedBy>Admin</cp:lastModifiedBy>
  <cp:revision>3</cp:revision>
  <dcterms:created xsi:type="dcterms:W3CDTF">2026-06-11T17:23:49Z</dcterms:created>
  <dcterms:modified xsi:type="dcterms:W3CDTF">2026-06-12T15:48:13Z</dcterms:modified>
</cp:coreProperties>
</file>